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E2EBF1-13D6-4E8B-AD5F-03CCA7F841B0}" v="44" dt="2025-10-25T03:14:48.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57" d="100"/>
          <a:sy n="57" d="100"/>
        </p:scale>
        <p:origin x="11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Wood" userId="4d97c9ec46417f47" providerId="LiveId" clId="{4BCBEA76-4286-420C-B39A-BD2F905B59F6}"/>
    <pc:docChg chg="undo redo custSel modSld">
      <pc:chgData name="Matthew Wood" userId="4d97c9ec46417f47" providerId="LiveId" clId="{4BCBEA76-4286-420C-B39A-BD2F905B59F6}" dt="2025-10-25T03:14:38.107" v="214" actId="1076"/>
      <pc:docMkLst>
        <pc:docMk/>
      </pc:docMkLst>
      <pc:sldChg chg="addSp delSp modSp mod">
        <pc:chgData name="Matthew Wood" userId="4d97c9ec46417f47" providerId="LiveId" clId="{4BCBEA76-4286-420C-B39A-BD2F905B59F6}" dt="2025-10-25T03:01:06.978" v="58" actId="20577"/>
        <pc:sldMkLst>
          <pc:docMk/>
          <pc:sldMk cId="409182036" sldId="258"/>
        </pc:sldMkLst>
        <pc:spChg chg="mod">
          <ac:chgData name="Matthew Wood" userId="4d97c9ec46417f47" providerId="LiveId" clId="{4BCBEA76-4286-420C-B39A-BD2F905B59F6}" dt="2025-10-25T02:59:10.272" v="48"/>
          <ac:spMkLst>
            <pc:docMk/>
            <pc:sldMk cId="409182036" sldId="258"/>
            <ac:spMk id="2" creationId="{00000000-0000-0000-0000-000000000000}"/>
          </ac:spMkLst>
        </pc:spChg>
        <pc:spChg chg="add del mod">
          <ac:chgData name="Matthew Wood" userId="4d97c9ec46417f47" providerId="LiveId" clId="{4BCBEA76-4286-420C-B39A-BD2F905B59F6}" dt="2025-10-25T03:01:06.978" v="58" actId="20577"/>
          <ac:spMkLst>
            <pc:docMk/>
            <pc:sldMk cId="409182036" sldId="258"/>
            <ac:spMk id="3" creationId="{00000000-0000-0000-0000-000000000000}"/>
          </ac:spMkLst>
        </pc:spChg>
        <pc:spChg chg="add">
          <ac:chgData name="Matthew Wood" userId="4d97c9ec46417f47" providerId="LiveId" clId="{4BCBEA76-4286-420C-B39A-BD2F905B59F6}" dt="2025-10-25T02:59:46.596" v="49"/>
          <ac:spMkLst>
            <pc:docMk/>
            <pc:sldMk cId="409182036" sldId="258"/>
            <ac:spMk id="4" creationId="{D45AF72E-51A5-0C6D-8741-B3498EF36E76}"/>
          </ac:spMkLst>
        </pc:spChg>
        <pc:spChg chg="add">
          <ac:chgData name="Matthew Wood" userId="4d97c9ec46417f47" providerId="LiveId" clId="{4BCBEA76-4286-420C-B39A-BD2F905B59F6}" dt="2025-10-25T02:59:53.357" v="50"/>
          <ac:spMkLst>
            <pc:docMk/>
            <pc:sldMk cId="409182036" sldId="258"/>
            <ac:spMk id="5" creationId="{85B1CD27-2D55-C951-405A-6882680D3720}"/>
          </ac:spMkLst>
        </pc:spChg>
        <pc:spChg chg="add mod">
          <ac:chgData name="Matthew Wood" userId="4d97c9ec46417f47" providerId="LiveId" clId="{4BCBEA76-4286-420C-B39A-BD2F905B59F6}" dt="2025-10-25T03:01:06.256" v="57"/>
          <ac:spMkLst>
            <pc:docMk/>
            <pc:sldMk cId="409182036" sldId="258"/>
            <ac:spMk id="6" creationId="{42B5B753-6762-4B58-DAB8-3148B6A8CE8E}"/>
          </ac:spMkLst>
        </pc:spChg>
      </pc:sldChg>
      <pc:sldChg chg="addSp modSp mod">
        <pc:chgData name="Matthew Wood" userId="4d97c9ec46417f47" providerId="LiveId" clId="{4BCBEA76-4286-420C-B39A-BD2F905B59F6}" dt="2025-10-25T03:12:38.497" v="194" actId="113"/>
        <pc:sldMkLst>
          <pc:docMk/>
          <pc:sldMk cId="1865885945" sldId="260"/>
        </pc:sldMkLst>
        <pc:spChg chg="mod">
          <ac:chgData name="Matthew Wood" userId="4d97c9ec46417f47" providerId="LiveId" clId="{4BCBEA76-4286-420C-B39A-BD2F905B59F6}" dt="2025-10-25T03:12:38.497" v="194" actId="113"/>
          <ac:spMkLst>
            <pc:docMk/>
            <pc:sldMk cId="1865885945" sldId="260"/>
            <ac:spMk id="3" creationId="{00000000-0000-0000-0000-000000000000}"/>
          </ac:spMkLst>
        </pc:spChg>
        <pc:spChg chg="add">
          <ac:chgData name="Matthew Wood" userId="4d97c9ec46417f47" providerId="LiveId" clId="{4BCBEA76-4286-420C-B39A-BD2F905B59F6}" dt="2025-10-25T03:01:55.899" v="63"/>
          <ac:spMkLst>
            <pc:docMk/>
            <pc:sldMk cId="1865885945" sldId="260"/>
            <ac:spMk id="4" creationId="{465493EC-65E7-674A-1FED-3A0AD802882B}"/>
          </ac:spMkLst>
        </pc:spChg>
      </pc:sldChg>
      <pc:sldChg chg="addSp modSp mod">
        <pc:chgData name="Matthew Wood" userId="4d97c9ec46417f47" providerId="LiveId" clId="{4BCBEA76-4286-420C-B39A-BD2F905B59F6}" dt="2025-10-25T03:08:27.437" v="124" actId="14100"/>
        <pc:sldMkLst>
          <pc:docMk/>
          <pc:sldMk cId="2776425341" sldId="261"/>
        </pc:sldMkLst>
        <pc:spChg chg="add mod">
          <ac:chgData name="Matthew Wood" userId="4d97c9ec46417f47" providerId="LiveId" clId="{4BCBEA76-4286-420C-B39A-BD2F905B59F6}" dt="2025-10-25T03:08:27.437" v="124" actId="14100"/>
          <ac:spMkLst>
            <pc:docMk/>
            <pc:sldMk cId="2776425341" sldId="261"/>
            <ac:spMk id="6" creationId="{0DC41B76-5322-1232-13EC-27805570CDFC}"/>
          </ac:spMkLst>
        </pc:spChg>
        <pc:picChg chg="add mod">
          <ac:chgData name="Matthew Wood" userId="4d97c9ec46417f47" providerId="LiveId" clId="{4BCBEA76-4286-420C-B39A-BD2F905B59F6}" dt="2025-10-25T03:07:18.349" v="117" actId="1076"/>
          <ac:picMkLst>
            <pc:docMk/>
            <pc:sldMk cId="2776425341" sldId="261"/>
            <ac:picMk id="5" creationId="{CA8D3329-827F-8190-DD8C-38CA72F69B5F}"/>
          </ac:picMkLst>
        </pc:picChg>
      </pc:sldChg>
      <pc:sldChg chg="addSp modSp mod">
        <pc:chgData name="Matthew Wood" userId="4d97c9ec46417f47" providerId="LiveId" clId="{4BCBEA76-4286-420C-B39A-BD2F905B59F6}" dt="2025-10-25T03:11:57.559" v="189" actId="12"/>
        <pc:sldMkLst>
          <pc:docMk/>
          <pc:sldMk cId="376843144" sldId="263"/>
        </pc:sldMkLst>
        <pc:spChg chg="mod">
          <ac:chgData name="Matthew Wood" userId="4d97c9ec46417f47" providerId="LiveId" clId="{4BCBEA76-4286-420C-B39A-BD2F905B59F6}" dt="2025-10-25T03:11:57.559" v="189" actId="12"/>
          <ac:spMkLst>
            <pc:docMk/>
            <pc:sldMk cId="376843144" sldId="263"/>
            <ac:spMk id="3" creationId="{00000000-0000-0000-0000-000000000000}"/>
          </ac:spMkLst>
        </pc:spChg>
        <pc:spChg chg="add">
          <ac:chgData name="Matthew Wood" userId="4d97c9ec46417f47" providerId="LiveId" clId="{4BCBEA76-4286-420C-B39A-BD2F905B59F6}" dt="2025-10-25T03:10:54.565" v="176"/>
          <ac:spMkLst>
            <pc:docMk/>
            <pc:sldMk cId="376843144" sldId="263"/>
            <ac:spMk id="4" creationId="{D4A0015C-BF08-7E06-93EA-703ACA1512D2}"/>
          </ac:spMkLst>
        </pc:spChg>
        <pc:spChg chg="add">
          <ac:chgData name="Matthew Wood" userId="4d97c9ec46417f47" providerId="LiveId" clId="{4BCBEA76-4286-420C-B39A-BD2F905B59F6}" dt="2025-10-25T03:11:02.042" v="177"/>
          <ac:spMkLst>
            <pc:docMk/>
            <pc:sldMk cId="376843144" sldId="263"/>
            <ac:spMk id="5" creationId="{DD77950E-68EB-A6E0-67AD-8CEBFF551581}"/>
          </ac:spMkLst>
        </pc:spChg>
      </pc:sldChg>
      <pc:sldChg chg="addSp modSp mod">
        <pc:chgData name="Matthew Wood" userId="4d97c9ec46417f47" providerId="LiveId" clId="{4BCBEA76-4286-420C-B39A-BD2F905B59F6}" dt="2025-10-25T03:14:38.107" v="214" actId="1076"/>
        <pc:sldMkLst>
          <pc:docMk/>
          <pc:sldMk cId="3225141645" sldId="265"/>
        </pc:sldMkLst>
        <pc:spChg chg="mod">
          <ac:chgData name="Matthew Wood" userId="4d97c9ec46417f47" providerId="LiveId" clId="{4BCBEA76-4286-420C-B39A-BD2F905B59F6}" dt="2025-10-25T03:14:38.107" v="214" actId="1076"/>
          <ac:spMkLst>
            <pc:docMk/>
            <pc:sldMk cId="3225141645" sldId="265"/>
            <ac:spMk id="3" creationId="{00000000-0000-0000-0000-000000000000}"/>
          </ac:spMkLst>
        </pc:spChg>
        <pc:spChg chg="add">
          <ac:chgData name="Matthew Wood" userId="4d97c9ec46417f47" providerId="LiveId" clId="{4BCBEA76-4286-420C-B39A-BD2F905B59F6}" dt="2025-10-25T03:13:14.621" v="196"/>
          <ac:spMkLst>
            <pc:docMk/>
            <pc:sldMk cId="3225141645" sldId="265"/>
            <ac:spMk id="4" creationId="{53CCEAC8-6AEB-62B3-EE78-884DC7432AF9}"/>
          </ac:spMkLst>
        </pc:spChg>
      </pc:sldChg>
      <pc:sldChg chg="addSp modSp mod">
        <pc:chgData name="Matthew Wood" userId="4d97c9ec46417f47" providerId="LiveId" clId="{4BCBEA76-4286-420C-B39A-BD2F905B59F6}" dt="2025-10-25T03:10:08.668" v="169" actId="1076"/>
        <pc:sldMkLst>
          <pc:docMk/>
          <pc:sldMk cId="3564055637" sldId="267"/>
        </pc:sldMkLst>
        <pc:spChg chg="mod">
          <ac:chgData name="Matthew Wood" userId="4d97c9ec46417f47" providerId="LiveId" clId="{4BCBEA76-4286-420C-B39A-BD2F905B59F6}" dt="2025-10-25T03:10:05.698" v="168" actId="6549"/>
          <ac:spMkLst>
            <pc:docMk/>
            <pc:sldMk cId="3564055637" sldId="267"/>
            <ac:spMk id="3" creationId="{00000000-0000-0000-0000-000000000000}"/>
          </ac:spMkLst>
        </pc:spChg>
        <pc:picChg chg="add mod">
          <ac:chgData name="Matthew Wood" userId="4d97c9ec46417f47" providerId="LiveId" clId="{4BCBEA76-4286-420C-B39A-BD2F905B59F6}" dt="2025-10-25T03:10:08.668" v="169" actId="1076"/>
          <ac:picMkLst>
            <pc:docMk/>
            <pc:sldMk cId="3564055637" sldId="267"/>
            <ac:picMk id="5" creationId="{67F74713-084E-89F0-35EF-27684A5C584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core capabilities we are building. The </a:t>
            </a:r>
            <a:r>
              <a:rPr lang="en-US" b="1" dirty="0"/>
              <a:t>Online Training Hub</a:t>
            </a:r>
            <a:r>
              <a:rPr lang="en-US" dirty="0"/>
              <a:t> directly addresses the market gap by offering structured classes and practice tests. For operations, the </a:t>
            </a:r>
            <a:r>
              <a:rPr lang="en-US" b="1" dirty="0"/>
              <a:t>Easy Scheduling</a:t>
            </a:r>
            <a:r>
              <a:rPr lang="en-US" dirty="0"/>
              <a:t> feature allows both students and your secretary to book two-hour lessons efficiently. Crucially, the system includes </a:t>
            </a:r>
            <a:r>
              <a:rPr lang="en-US" b="1" dirty="0"/>
              <a:t>Secure Payments</a:t>
            </a:r>
            <a:r>
              <a:rPr lang="en-US" dirty="0"/>
              <a:t> using a specialized service, so we don't store sensitive financial information. Because the system is </a:t>
            </a:r>
            <a:r>
              <a:rPr lang="en-US" b="1" dirty="0"/>
              <a:t>Cloud-Based</a:t>
            </a:r>
            <a:r>
              <a:rPr lang="en-US" dirty="0"/>
              <a:t>, we manage the complexity of security and data backups for you. Finally, you will have </a:t>
            </a:r>
            <a:r>
              <a:rPr lang="en-US" b="1" dirty="0"/>
              <a:t>Full Reporting</a:t>
            </a:r>
            <a:r>
              <a:rPr lang="en-US" dirty="0"/>
              <a:t> access to download all necessary data for your offline work."</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shows the four main groups of people, or 'Actors,' who use the system, and what specific tasks they can perform. The </a:t>
            </a:r>
            <a:r>
              <a:rPr lang="en-US" b="1" dirty="0"/>
              <a:t>Student</a:t>
            </a:r>
            <a:r>
              <a:rPr lang="en-US" dirty="0"/>
              <a:t> is empowered to handle most of their training needs online, from signing up to taking a practice test. Your </a:t>
            </a:r>
            <a:r>
              <a:rPr lang="en-US" b="1" dirty="0"/>
              <a:t>Secretary</a:t>
            </a:r>
            <a:r>
              <a:rPr lang="en-US" dirty="0"/>
              <a:t> has tools designed for fast, accurate registration and scheduling when a customer calls in. Your </a:t>
            </a:r>
            <a:r>
              <a:rPr lang="en-US" b="1" dirty="0"/>
              <a:t>Admin/IT Officer</a:t>
            </a:r>
            <a:r>
              <a:rPr lang="en-US" dirty="0"/>
              <a:t> has the high-level controls, such as blocking an account if an employee leaves or easily turning packages on or off for sale. The </a:t>
            </a:r>
            <a:r>
              <a:rPr lang="en-US" b="1" dirty="0"/>
              <a:t>DMV System</a:t>
            </a:r>
            <a:r>
              <a:rPr lang="en-US" dirty="0"/>
              <a:t> is an important external partner, ensuring your content is always compliant by automatically sending updates to your training materials."</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shows the step-by-step process for </a:t>
            </a:r>
            <a:r>
              <a:rPr lang="en-US" b="1" dirty="0"/>
              <a:t>booking a driving lesson</a:t>
            </a:r>
            <a:r>
              <a:rPr lang="en-US" dirty="0"/>
              <a:t>, which is designed to be error-free. When a time is requested, the system automatically checks for three key items at the same time: </a:t>
            </a:r>
            <a:r>
              <a:rPr lang="en-US" b="1" dirty="0"/>
              <a:t>Driver availability</a:t>
            </a:r>
            <a:r>
              <a:rPr lang="en-US" dirty="0"/>
              <a:t>, </a:t>
            </a:r>
            <a:r>
              <a:rPr lang="en-US" b="1" dirty="0"/>
              <a:t>Car availability</a:t>
            </a:r>
            <a:r>
              <a:rPr lang="en-US" dirty="0"/>
              <a:t>, and the </a:t>
            </a:r>
            <a:r>
              <a:rPr lang="en-US" b="1" dirty="0"/>
              <a:t>Student's payment status</a:t>
            </a:r>
            <a:r>
              <a:rPr lang="en-US" dirty="0"/>
              <a:t>. This prevents overbooking. Once validated, the system securely processes the payment (if necessary) and instantly confirms the reservation. This ensures that every lesson is accurately tracked, providing you with reliable scheduling data."</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integrated into the system's core. We use </a:t>
            </a:r>
            <a:r>
              <a:rPr lang="en-US" b="1" dirty="0"/>
              <a:t>Role-Based Access</a:t>
            </a:r>
            <a:r>
              <a:rPr lang="en-US" dirty="0"/>
              <a:t> to control what different employees can see and do; a driver cannot access financial reports, for instance. This protects your data internally. For managing staff, your administrator has </a:t>
            </a:r>
            <a:r>
              <a:rPr lang="en-US" b="1" dirty="0"/>
              <a:t>full control</a:t>
            </a:r>
            <a:r>
              <a:rPr lang="en-US" dirty="0"/>
              <a:t> to reset passwords and instantly block a driver's access if they leave, securing your business. To handle customer payments, we chose an </a:t>
            </a:r>
            <a:r>
              <a:rPr lang="en-US" b="1" dirty="0"/>
              <a:t>external payment service</a:t>
            </a:r>
            <a:r>
              <a:rPr lang="en-US" dirty="0"/>
              <a:t>, which means we don't store sensitive credit card numbers ourselves. Finally, </a:t>
            </a:r>
            <a:r>
              <a:rPr lang="en-US" b="1" dirty="0"/>
              <a:t>Activity Tracking</a:t>
            </a:r>
            <a:r>
              <a:rPr lang="en-US" dirty="0"/>
              <a:t> ensures that every reservation, cancellation, or change is logged with the user's name, providing complete transparency over who did what."</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want to be clear about the scope of this first phase. The system has four main limitations for now. First, while we receive </a:t>
            </a:r>
            <a:r>
              <a:rPr lang="en-US" b="1" dirty="0"/>
              <a:t>DMV Updates</a:t>
            </a:r>
            <a:r>
              <a:rPr lang="en-US" dirty="0"/>
              <a:t>, the system will </a:t>
            </a:r>
            <a:r>
              <a:rPr lang="en-US" b="1" dirty="0"/>
              <a:t>not submit data</a:t>
            </a:r>
            <a:r>
              <a:rPr lang="en-US" dirty="0"/>
              <a:t> like certifications to the DMV. Second, you can turn training packages </a:t>
            </a:r>
            <a:r>
              <a:rPr lang="en-US" b="1" dirty="0"/>
              <a:t>on or off</a:t>
            </a:r>
            <a:r>
              <a:rPr lang="en-US" dirty="0"/>
              <a:t> as needed, but you cannot create a brand-new package from scratch; that would require development work. Third, the system will </a:t>
            </a:r>
            <a:r>
              <a:rPr lang="en-US" b="1" dirty="0"/>
              <a:t>not work offline</a:t>
            </a:r>
            <a:r>
              <a:rPr lang="en-US" dirty="0"/>
              <a:t> for making changes to the schedule, as this is necessary to ensure the scheduling data is always accurate and prevents booking conflicts. These limitations help us keep the project within the schedule and deliver the core system by the May 10th final date."</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10/24/2025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10/24/2025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Matthew Wood</a:t>
            </a: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109890" y="-1"/>
            <a:ext cx="5442031" cy="6857999"/>
          </a:xfrm>
        </p:spPr>
        <p:txBody>
          <a:bodyPr anchor="ctr">
            <a:normAutofit/>
          </a:bodyPr>
          <a:lstStyle/>
          <a:p>
            <a:pPr marL="0" indent="0">
              <a:buNone/>
            </a:pPr>
            <a:r>
              <a:rPr lang="en-US" sz="2400" dirty="0"/>
              <a:t>Key Features of Your New System</a:t>
            </a:r>
          </a:p>
          <a:p>
            <a:pPr marL="0" indent="0">
              <a:buNone/>
            </a:pPr>
            <a:endParaRPr lang="en-US" sz="2400" dirty="0">
              <a:solidFill>
                <a:srgbClr val="000000"/>
              </a:solidFill>
            </a:endParaRPr>
          </a:p>
          <a:p>
            <a:r>
              <a:rPr lang="en-US" sz="1800" b="1" dirty="0">
                <a:solidFill>
                  <a:srgbClr val="000000"/>
                </a:solidFill>
              </a:rPr>
              <a:t>Online Training Hub: </a:t>
            </a:r>
            <a:r>
              <a:rPr lang="en-US" sz="1800" dirty="0">
                <a:solidFill>
                  <a:srgbClr val="000000"/>
                </a:solidFill>
              </a:rPr>
              <a:t>Students can take online classes and practice tests with content kept current via automatic DMV updates.</a:t>
            </a:r>
          </a:p>
          <a:p>
            <a:r>
              <a:rPr lang="en-US" sz="1800" b="1" dirty="0">
                <a:solidFill>
                  <a:srgbClr val="000000"/>
                </a:solidFill>
              </a:rPr>
              <a:t>Easy Scheduling: </a:t>
            </a:r>
            <a:r>
              <a:rPr lang="en-US" sz="1800" dirty="0">
                <a:solidFill>
                  <a:srgbClr val="000000"/>
                </a:solidFill>
              </a:rPr>
              <a:t>Students and staff can quickly schedule, modify, or cancel two-hour driving lessons.</a:t>
            </a:r>
          </a:p>
          <a:p>
            <a:r>
              <a:rPr lang="en-US" sz="1800" b="1" dirty="0">
                <a:solidFill>
                  <a:srgbClr val="000000"/>
                </a:solidFill>
              </a:rPr>
              <a:t>Secure Payments: </a:t>
            </a:r>
            <a:r>
              <a:rPr lang="en-US" sz="1800" dirty="0">
                <a:solidFill>
                  <a:srgbClr val="000000"/>
                </a:solidFill>
              </a:rPr>
              <a:t>The system integrates with a secure, third-party service to process credit card payments.</a:t>
            </a:r>
          </a:p>
          <a:p>
            <a:r>
              <a:rPr lang="en-US" sz="1800" b="1" dirty="0">
                <a:solidFill>
                  <a:srgbClr val="000000"/>
                </a:solidFill>
              </a:rPr>
              <a:t>Centralized and Cloud-Based:</a:t>
            </a:r>
            <a:r>
              <a:rPr lang="en-US" sz="1800" dirty="0">
                <a:solidFill>
                  <a:srgbClr val="000000"/>
                </a:solidFill>
              </a:rPr>
              <a:t> All data is managed in a central, cloud-based database to handle backup and security.</a:t>
            </a:r>
          </a:p>
          <a:p>
            <a:r>
              <a:rPr lang="en-US" sz="1800" b="1" dirty="0">
                <a:solidFill>
                  <a:srgbClr val="000000"/>
                </a:solidFill>
              </a:rPr>
              <a:t>Full Reporting: </a:t>
            </a:r>
            <a:r>
              <a:rPr lang="en-US" sz="1800" dirty="0">
                <a:solidFill>
                  <a:srgbClr val="000000"/>
                </a:solidFill>
              </a:rPr>
              <a:t>You can easily download reports (activity, financial) in formats compatible with software like Excel.</a:t>
            </a:r>
            <a:endParaRPr sz="18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your use case diagram here.]</a:t>
            </a:r>
            <a:endParaRPr sz="2400" dirty="0">
              <a:solidFill>
                <a:srgbClr val="000000"/>
              </a:solidFill>
            </a:endParaRPr>
          </a:p>
        </p:txBody>
      </p:sp>
      <p:pic>
        <p:nvPicPr>
          <p:cNvPr id="5" name="Picture 4" descr="Use Case Diagram">
            <a:extLst>
              <a:ext uri="{FF2B5EF4-FFF2-40B4-BE49-F238E27FC236}">
                <a16:creationId xmlns:a16="http://schemas.microsoft.com/office/drawing/2014/main" id="{CA8D3329-827F-8190-DD8C-38CA72F69B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0800" y="2286001"/>
            <a:ext cx="6631200" cy="3526453"/>
          </a:xfrm>
          <a:prstGeom prst="rect">
            <a:avLst/>
          </a:prstGeom>
        </p:spPr>
      </p:pic>
      <p:sp>
        <p:nvSpPr>
          <p:cNvPr id="6" name="TextBox 5">
            <a:extLst>
              <a:ext uri="{FF2B5EF4-FFF2-40B4-BE49-F238E27FC236}">
                <a16:creationId xmlns:a16="http://schemas.microsoft.com/office/drawing/2014/main" id="{0DC41B76-5322-1232-13EC-27805570CDFC}"/>
              </a:ext>
            </a:extLst>
          </p:cNvPr>
          <p:cNvSpPr txBox="1"/>
          <p:nvPr/>
        </p:nvSpPr>
        <p:spPr>
          <a:xfrm>
            <a:off x="5791200" y="1240455"/>
            <a:ext cx="6112933" cy="461665"/>
          </a:xfrm>
          <a:prstGeom prst="rect">
            <a:avLst/>
          </a:prstGeom>
          <a:noFill/>
        </p:spPr>
        <p:txBody>
          <a:bodyPr wrap="square" rtlCol="0">
            <a:spAutoFit/>
          </a:bodyPr>
          <a:lstStyle/>
          <a:p>
            <a:r>
              <a:rPr lang="en-US" sz="2400" dirty="0"/>
              <a:t>Who Uses the System and What Can They Do?</a:t>
            </a:r>
          </a:p>
        </p:txBody>
      </p:sp>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endParaRPr lang="en-US" sz="2400" dirty="0">
              <a:solidFill>
                <a:srgbClr val="000000"/>
              </a:solidFill>
            </a:endParaRPr>
          </a:p>
          <a:p>
            <a:pPr marL="0" indent="0">
              <a:buNone/>
            </a:pPr>
            <a:endParaRPr sz="2400" dirty="0">
              <a:solidFill>
                <a:srgbClr val="000000"/>
              </a:solidFill>
            </a:endParaRPr>
          </a:p>
        </p:txBody>
      </p:sp>
      <p:pic>
        <p:nvPicPr>
          <p:cNvPr id="5" name="Picture 4" descr="Activity Diagram">
            <a:extLst>
              <a:ext uri="{FF2B5EF4-FFF2-40B4-BE49-F238E27FC236}">
                <a16:creationId xmlns:a16="http://schemas.microsoft.com/office/drawing/2014/main" id="{67F74713-084E-89F0-35EF-27684A5C58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12856" y="-11817"/>
            <a:ext cx="3648397" cy="685800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t>Protecting Your Data and Business</a:t>
            </a:r>
          </a:p>
          <a:p>
            <a:pPr marL="0" indent="0">
              <a:buNone/>
            </a:pPr>
            <a:endParaRPr lang="en-US" sz="1800" dirty="0"/>
          </a:p>
          <a:p>
            <a:r>
              <a:rPr lang="en-US" sz="1800" b="1" dirty="0"/>
              <a:t>Role-Based Access: </a:t>
            </a:r>
            <a:r>
              <a:rPr lang="en-US" sz="1800" dirty="0"/>
              <a:t>Every employee and student has different access levels, ensuring they only see what is required for their job.</a:t>
            </a:r>
          </a:p>
          <a:p>
            <a:r>
              <a:rPr lang="en-US" sz="1800" b="1" dirty="0"/>
              <a:t>Administrative Control: </a:t>
            </a:r>
            <a:r>
              <a:rPr lang="en-US" sz="1800" dirty="0"/>
              <a:t>Your IT Officer has full privileges to manage all accounts, including resetting passwords or blocking access if an employee leaves.</a:t>
            </a:r>
          </a:p>
          <a:p>
            <a:r>
              <a:rPr lang="en-US" sz="1800" b="1" dirty="0"/>
              <a:t>Payment Security: </a:t>
            </a:r>
            <a:r>
              <a:rPr lang="en-US" sz="1800" dirty="0"/>
              <a:t>We use a secure, external payment service to protect all credit card information, which is transmitted using strong encryption.</a:t>
            </a:r>
          </a:p>
          <a:p>
            <a:r>
              <a:rPr lang="en-US" sz="1800" b="1" dirty="0"/>
              <a:t>Activity Tracking: </a:t>
            </a:r>
            <a:r>
              <a:rPr lang="en-US" sz="1800" dirty="0"/>
              <a:t>Every action in the system is logged and attributed to the specific user who made the change for complete accountability.</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109891" y="480133"/>
            <a:ext cx="5864359" cy="5598934"/>
          </a:xfrm>
        </p:spPr>
        <p:txBody>
          <a:bodyPr anchor="ctr">
            <a:normAutofit/>
          </a:bodyPr>
          <a:lstStyle/>
          <a:p>
            <a:pPr marL="0" indent="0">
              <a:buNone/>
            </a:pPr>
            <a:r>
              <a:rPr lang="en-US" sz="2400" dirty="0"/>
              <a:t>What the System Will NOT Do (Initial Phase)</a:t>
            </a:r>
            <a:endParaRPr lang="en-US" sz="2400" b="1" dirty="0">
              <a:solidFill>
                <a:srgbClr val="000000"/>
              </a:solidFill>
            </a:endParaRPr>
          </a:p>
          <a:p>
            <a:pPr marL="0" indent="0">
              <a:buNone/>
            </a:pPr>
            <a:endParaRPr lang="en-US" sz="1800" b="1" dirty="0">
              <a:solidFill>
                <a:srgbClr val="000000"/>
              </a:solidFill>
            </a:endParaRPr>
          </a:p>
          <a:p>
            <a:r>
              <a:rPr lang="en-US" sz="1800" b="1" dirty="0">
                <a:solidFill>
                  <a:srgbClr val="000000"/>
                </a:solidFill>
              </a:rPr>
              <a:t>No DMV Submission: </a:t>
            </a:r>
            <a:r>
              <a:rPr lang="en-US" sz="1800" dirty="0">
                <a:solidFill>
                  <a:srgbClr val="000000"/>
                </a:solidFill>
              </a:rPr>
              <a:t>The system will receive content updates from the DMV but will not submit any data, certifications, or official information back to the DMV.</a:t>
            </a:r>
          </a:p>
          <a:p>
            <a:r>
              <a:rPr lang="en-US" sz="1800" b="1" dirty="0">
                <a:solidFill>
                  <a:srgbClr val="000000"/>
                </a:solidFill>
              </a:rPr>
              <a:t>Limited Package Customization: </a:t>
            </a:r>
            <a:r>
              <a:rPr lang="en-US" sz="1800" dirty="0">
                <a:solidFill>
                  <a:srgbClr val="000000"/>
                </a:solidFill>
              </a:rPr>
              <a:t>You can easily disable or enable existing training packages, but you cannot build or create new ones without a developer's help.</a:t>
            </a:r>
          </a:p>
          <a:p>
            <a:r>
              <a:rPr lang="en-US" sz="1800" b="1" dirty="0">
                <a:solidFill>
                  <a:srgbClr val="000000"/>
                </a:solidFill>
              </a:rPr>
              <a:t>No Offline Modification: </a:t>
            </a:r>
            <a:r>
              <a:rPr lang="en-US" sz="1800" dirty="0">
                <a:solidFill>
                  <a:srgbClr val="000000"/>
                </a:solidFill>
              </a:rPr>
              <a:t>You must have an active internet connection to make or modify any data (like reservations) to prevent conflicting records.</a:t>
            </a:r>
          </a:p>
          <a:p>
            <a:r>
              <a:rPr lang="en-US" sz="1800" b="1" dirty="0">
                <a:solidFill>
                  <a:srgbClr val="000000"/>
                </a:solidFill>
              </a:rPr>
              <a:t>Timeline Constraint: </a:t>
            </a:r>
            <a:r>
              <a:rPr lang="en-US" sz="1800" dirty="0">
                <a:solidFill>
                  <a:srgbClr val="000000"/>
                </a:solidFill>
              </a:rPr>
              <a:t>Features are limited to the core requirements to ensure delivery by the planned end date of May 10th.</a:t>
            </a:r>
            <a:endParaRPr sz="18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1363</TotalTime>
  <Words>926</Words>
  <Application>Microsoft Office PowerPoint</Application>
  <PresentationFormat>Widescreen</PresentationFormat>
  <Paragraphs>40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Matthew Wood</cp:lastModifiedBy>
  <cp:revision>20</cp:revision>
  <dcterms:created xsi:type="dcterms:W3CDTF">2019-10-14T02:36:52Z</dcterms:created>
  <dcterms:modified xsi:type="dcterms:W3CDTF">2025-10-25T03:14:56Z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